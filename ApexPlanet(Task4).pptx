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5EEBEE4-3A94-4595-B458-83268498010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22705-98D0-4012-B5A3-FD174AEF9F56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A1C64-4EC1-4C36-88AD-6E5533835C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665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A1C64-4EC1-4C36-88AD-6E5533835C7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530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A1C64-4EC1-4C36-88AD-6E5533835C7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213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A1C64-4EC1-4C36-88AD-6E5533835C7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234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A1C64-4EC1-4C36-88AD-6E5533835C7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742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/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/>
          <p:cNvCxnSpPr/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/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/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/>
          <p:cNvCxnSpPr/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/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-1" fmla="*/ 668836 w 5325805"/>
              <a:gd name="connsiteY0-2" fmla="*/ 5429563 h 5476799"/>
              <a:gd name="connsiteX1-3" fmla="*/ 0 w 5325805"/>
              <a:gd name="connsiteY1-4" fmla="*/ 5429563 h 5476799"/>
              <a:gd name="connsiteX2-5" fmla="*/ 0 w 5325805"/>
              <a:gd name="connsiteY2-6" fmla="*/ 0 h 5476799"/>
              <a:gd name="connsiteX3-7" fmla="*/ 668836 w 5325805"/>
              <a:gd name="connsiteY3-8" fmla="*/ 0 h 5476799"/>
              <a:gd name="connsiteX4-9" fmla="*/ 1942188 w 5325805"/>
              <a:gd name="connsiteY4-10" fmla="*/ 0 h 5476799"/>
              <a:gd name="connsiteX5-11" fmla="*/ 2611024 w 5325805"/>
              <a:gd name="connsiteY5-12" fmla="*/ 0 h 5476799"/>
              <a:gd name="connsiteX6-13" fmla="*/ 5325805 w 5325805"/>
              <a:gd name="connsiteY6-14" fmla="*/ 2714782 h 5476799"/>
              <a:gd name="connsiteX7-15" fmla="*/ 2611024 w 5325805"/>
              <a:gd name="connsiteY7-16" fmla="*/ 5429563 h 5476799"/>
              <a:gd name="connsiteX8-17" fmla="*/ 1942188 w 5325805"/>
              <a:gd name="connsiteY8-18" fmla="*/ 5429563 h 5476799"/>
              <a:gd name="connsiteX9-19" fmla="*/ 716072 w 5325805"/>
              <a:gd name="connsiteY9-20" fmla="*/ 5476799 h 5476799"/>
              <a:gd name="connsiteX0-21" fmla="*/ 668836 w 5325805"/>
              <a:gd name="connsiteY0-22" fmla="*/ 5429563 h 5429563"/>
              <a:gd name="connsiteX1-23" fmla="*/ 0 w 5325805"/>
              <a:gd name="connsiteY1-24" fmla="*/ 5429563 h 5429563"/>
              <a:gd name="connsiteX2-25" fmla="*/ 0 w 5325805"/>
              <a:gd name="connsiteY2-26" fmla="*/ 0 h 5429563"/>
              <a:gd name="connsiteX3-27" fmla="*/ 668836 w 5325805"/>
              <a:gd name="connsiteY3-28" fmla="*/ 0 h 5429563"/>
              <a:gd name="connsiteX4-29" fmla="*/ 1942188 w 5325805"/>
              <a:gd name="connsiteY4-30" fmla="*/ 0 h 5429563"/>
              <a:gd name="connsiteX5-31" fmla="*/ 2611024 w 5325805"/>
              <a:gd name="connsiteY5-32" fmla="*/ 0 h 5429563"/>
              <a:gd name="connsiteX6-33" fmla="*/ 5325805 w 5325805"/>
              <a:gd name="connsiteY6-34" fmla="*/ 2714782 h 5429563"/>
              <a:gd name="connsiteX7-35" fmla="*/ 2611024 w 5325805"/>
              <a:gd name="connsiteY7-36" fmla="*/ 5429563 h 5429563"/>
              <a:gd name="connsiteX8-37" fmla="*/ 1942188 w 5325805"/>
              <a:gd name="connsiteY8-38" fmla="*/ 5429563 h 5429563"/>
              <a:gd name="connsiteX0-39" fmla="*/ 0 w 5325805"/>
              <a:gd name="connsiteY0-40" fmla="*/ 5429563 h 5429563"/>
              <a:gd name="connsiteX1-41" fmla="*/ 0 w 5325805"/>
              <a:gd name="connsiteY1-42" fmla="*/ 0 h 5429563"/>
              <a:gd name="connsiteX2-43" fmla="*/ 668836 w 5325805"/>
              <a:gd name="connsiteY2-44" fmla="*/ 0 h 5429563"/>
              <a:gd name="connsiteX3-45" fmla="*/ 1942188 w 5325805"/>
              <a:gd name="connsiteY3-46" fmla="*/ 0 h 5429563"/>
              <a:gd name="connsiteX4-47" fmla="*/ 2611024 w 5325805"/>
              <a:gd name="connsiteY4-48" fmla="*/ 0 h 5429563"/>
              <a:gd name="connsiteX5-49" fmla="*/ 5325805 w 5325805"/>
              <a:gd name="connsiteY5-50" fmla="*/ 2714782 h 5429563"/>
              <a:gd name="connsiteX6-51" fmla="*/ 2611024 w 5325805"/>
              <a:gd name="connsiteY6-52" fmla="*/ 5429563 h 5429563"/>
              <a:gd name="connsiteX7-53" fmla="*/ 1942188 w 5325805"/>
              <a:gd name="connsiteY7-54" fmla="*/ 5429563 h 5429563"/>
              <a:gd name="connsiteX0-55" fmla="*/ 0 w 5325805"/>
              <a:gd name="connsiteY0-56" fmla="*/ 0 h 5429563"/>
              <a:gd name="connsiteX1-57" fmla="*/ 668836 w 5325805"/>
              <a:gd name="connsiteY1-58" fmla="*/ 0 h 5429563"/>
              <a:gd name="connsiteX2-59" fmla="*/ 1942188 w 5325805"/>
              <a:gd name="connsiteY2-60" fmla="*/ 0 h 5429563"/>
              <a:gd name="connsiteX3-61" fmla="*/ 2611024 w 5325805"/>
              <a:gd name="connsiteY3-62" fmla="*/ 0 h 5429563"/>
              <a:gd name="connsiteX4-63" fmla="*/ 5325805 w 5325805"/>
              <a:gd name="connsiteY4-64" fmla="*/ 2714782 h 5429563"/>
              <a:gd name="connsiteX5-65" fmla="*/ 2611024 w 5325805"/>
              <a:gd name="connsiteY5-66" fmla="*/ 5429563 h 5429563"/>
              <a:gd name="connsiteX6-67" fmla="*/ 1942188 w 5325805"/>
              <a:gd name="connsiteY6-68" fmla="*/ 5429563 h 5429563"/>
              <a:gd name="connsiteX0-69" fmla="*/ 0 w 4656969"/>
              <a:gd name="connsiteY0-70" fmla="*/ 0 h 5429563"/>
              <a:gd name="connsiteX1-71" fmla="*/ 1273352 w 4656969"/>
              <a:gd name="connsiteY1-72" fmla="*/ 0 h 5429563"/>
              <a:gd name="connsiteX2-73" fmla="*/ 1942188 w 4656969"/>
              <a:gd name="connsiteY2-74" fmla="*/ 0 h 5429563"/>
              <a:gd name="connsiteX3-75" fmla="*/ 4656969 w 4656969"/>
              <a:gd name="connsiteY3-76" fmla="*/ 2714782 h 5429563"/>
              <a:gd name="connsiteX4-77" fmla="*/ 1942188 w 4656969"/>
              <a:gd name="connsiteY4-78" fmla="*/ 5429563 h 5429563"/>
              <a:gd name="connsiteX5-79" fmla="*/ 1273352 w 4656969"/>
              <a:gd name="connsiteY5-80" fmla="*/ 5429563 h 5429563"/>
              <a:gd name="connsiteX0-81" fmla="*/ 0 w 3383617"/>
              <a:gd name="connsiteY0-82" fmla="*/ 0 h 5429563"/>
              <a:gd name="connsiteX1-83" fmla="*/ 668836 w 3383617"/>
              <a:gd name="connsiteY1-84" fmla="*/ 0 h 5429563"/>
              <a:gd name="connsiteX2-85" fmla="*/ 3383617 w 3383617"/>
              <a:gd name="connsiteY2-86" fmla="*/ 2714782 h 5429563"/>
              <a:gd name="connsiteX3-87" fmla="*/ 668836 w 3383617"/>
              <a:gd name="connsiteY3-88" fmla="*/ 5429563 h 5429563"/>
              <a:gd name="connsiteX4-89" fmla="*/ 0 w 3383617"/>
              <a:gd name="connsiteY4-90" fmla="*/ 5429563 h 5429563"/>
              <a:gd name="connsiteX0-91" fmla="*/ 0 w 3383617"/>
              <a:gd name="connsiteY0-92" fmla="*/ 0 h 5429563"/>
              <a:gd name="connsiteX1-93" fmla="*/ 248198 w 3383617"/>
              <a:gd name="connsiteY1-94" fmla="*/ 41 h 5429563"/>
              <a:gd name="connsiteX2-95" fmla="*/ 668836 w 3383617"/>
              <a:gd name="connsiteY2-96" fmla="*/ 0 h 5429563"/>
              <a:gd name="connsiteX3-97" fmla="*/ 3383617 w 3383617"/>
              <a:gd name="connsiteY3-98" fmla="*/ 2714782 h 5429563"/>
              <a:gd name="connsiteX4-99" fmla="*/ 668836 w 3383617"/>
              <a:gd name="connsiteY4-100" fmla="*/ 5429563 h 5429563"/>
              <a:gd name="connsiteX5-101" fmla="*/ 0 w 3383617"/>
              <a:gd name="connsiteY5-102" fmla="*/ 5429563 h 5429563"/>
              <a:gd name="connsiteX0-103" fmla="*/ 248198 w 3383617"/>
              <a:gd name="connsiteY0-104" fmla="*/ 41 h 5429563"/>
              <a:gd name="connsiteX1-105" fmla="*/ 668836 w 3383617"/>
              <a:gd name="connsiteY1-106" fmla="*/ 0 h 5429563"/>
              <a:gd name="connsiteX2-107" fmla="*/ 3383617 w 3383617"/>
              <a:gd name="connsiteY2-108" fmla="*/ 2714782 h 5429563"/>
              <a:gd name="connsiteX3-109" fmla="*/ 668836 w 3383617"/>
              <a:gd name="connsiteY3-110" fmla="*/ 5429563 h 5429563"/>
              <a:gd name="connsiteX4-111" fmla="*/ 0 w 3383617"/>
              <a:gd name="connsiteY4-112" fmla="*/ 5429563 h 5429563"/>
              <a:gd name="connsiteX0-113" fmla="*/ 4110 w 3139529"/>
              <a:gd name="connsiteY0-114" fmla="*/ 41 h 5429563"/>
              <a:gd name="connsiteX1-115" fmla="*/ 424748 w 3139529"/>
              <a:gd name="connsiteY1-116" fmla="*/ 0 h 5429563"/>
              <a:gd name="connsiteX2-117" fmla="*/ 3139529 w 3139529"/>
              <a:gd name="connsiteY2-118" fmla="*/ 2714782 h 5429563"/>
              <a:gd name="connsiteX3-119" fmla="*/ 424748 w 3139529"/>
              <a:gd name="connsiteY3-120" fmla="*/ 5429563 h 5429563"/>
              <a:gd name="connsiteX4-121" fmla="*/ 0 w 3139529"/>
              <a:gd name="connsiteY4-122" fmla="*/ 5429563 h 54295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/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-1" fmla="*/ 668836 w 5325805"/>
              <a:gd name="connsiteY0-2" fmla="*/ 5429563 h 5476799"/>
              <a:gd name="connsiteX1-3" fmla="*/ 0 w 5325805"/>
              <a:gd name="connsiteY1-4" fmla="*/ 5429563 h 5476799"/>
              <a:gd name="connsiteX2-5" fmla="*/ 0 w 5325805"/>
              <a:gd name="connsiteY2-6" fmla="*/ 0 h 5476799"/>
              <a:gd name="connsiteX3-7" fmla="*/ 668836 w 5325805"/>
              <a:gd name="connsiteY3-8" fmla="*/ 0 h 5476799"/>
              <a:gd name="connsiteX4-9" fmla="*/ 1942188 w 5325805"/>
              <a:gd name="connsiteY4-10" fmla="*/ 0 h 5476799"/>
              <a:gd name="connsiteX5-11" fmla="*/ 2611024 w 5325805"/>
              <a:gd name="connsiteY5-12" fmla="*/ 0 h 5476799"/>
              <a:gd name="connsiteX6-13" fmla="*/ 5325805 w 5325805"/>
              <a:gd name="connsiteY6-14" fmla="*/ 2714782 h 5476799"/>
              <a:gd name="connsiteX7-15" fmla="*/ 2611024 w 5325805"/>
              <a:gd name="connsiteY7-16" fmla="*/ 5429563 h 5476799"/>
              <a:gd name="connsiteX8-17" fmla="*/ 1942188 w 5325805"/>
              <a:gd name="connsiteY8-18" fmla="*/ 5429563 h 5476799"/>
              <a:gd name="connsiteX9-19" fmla="*/ 716072 w 5325805"/>
              <a:gd name="connsiteY9-20" fmla="*/ 5476799 h 5476799"/>
              <a:gd name="connsiteX0-21" fmla="*/ 668836 w 5325805"/>
              <a:gd name="connsiteY0-22" fmla="*/ 5429563 h 5429563"/>
              <a:gd name="connsiteX1-23" fmla="*/ 0 w 5325805"/>
              <a:gd name="connsiteY1-24" fmla="*/ 5429563 h 5429563"/>
              <a:gd name="connsiteX2-25" fmla="*/ 0 w 5325805"/>
              <a:gd name="connsiteY2-26" fmla="*/ 0 h 5429563"/>
              <a:gd name="connsiteX3-27" fmla="*/ 668836 w 5325805"/>
              <a:gd name="connsiteY3-28" fmla="*/ 0 h 5429563"/>
              <a:gd name="connsiteX4-29" fmla="*/ 1942188 w 5325805"/>
              <a:gd name="connsiteY4-30" fmla="*/ 0 h 5429563"/>
              <a:gd name="connsiteX5-31" fmla="*/ 2611024 w 5325805"/>
              <a:gd name="connsiteY5-32" fmla="*/ 0 h 5429563"/>
              <a:gd name="connsiteX6-33" fmla="*/ 5325805 w 5325805"/>
              <a:gd name="connsiteY6-34" fmla="*/ 2714782 h 5429563"/>
              <a:gd name="connsiteX7-35" fmla="*/ 2611024 w 5325805"/>
              <a:gd name="connsiteY7-36" fmla="*/ 5429563 h 5429563"/>
              <a:gd name="connsiteX8-37" fmla="*/ 1942188 w 5325805"/>
              <a:gd name="connsiteY8-38" fmla="*/ 5429563 h 5429563"/>
              <a:gd name="connsiteX0-39" fmla="*/ 0 w 5325805"/>
              <a:gd name="connsiteY0-40" fmla="*/ 5429563 h 5429563"/>
              <a:gd name="connsiteX1-41" fmla="*/ 0 w 5325805"/>
              <a:gd name="connsiteY1-42" fmla="*/ 0 h 5429563"/>
              <a:gd name="connsiteX2-43" fmla="*/ 668836 w 5325805"/>
              <a:gd name="connsiteY2-44" fmla="*/ 0 h 5429563"/>
              <a:gd name="connsiteX3-45" fmla="*/ 1942188 w 5325805"/>
              <a:gd name="connsiteY3-46" fmla="*/ 0 h 5429563"/>
              <a:gd name="connsiteX4-47" fmla="*/ 2611024 w 5325805"/>
              <a:gd name="connsiteY4-48" fmla="*/ 0 h 5429563"/>
              <a:gd name="connsiteX5-49" fmla="*/ 5325805 w 5325805"/>
              <a:gd name="connsiteY5-50" fmla="*/ 2714782 h 5429563"/>
              <a:gd name="connsiteX6-51" fmla="*/ 2611024 w 5325805"/>
              <a:gd name="connsiteY6-52" fmla="*/ 5429563 h 5429563"/>
              <a:gd name="connsiteX7-53" fmla="*/ 1942188 w 5325805"/>
              <a:gd name="connsiteY7-54" fmla="*/ 5429563 h 5429563"/>
              <a:gd name="connsiteX0-55" fmla="*/ 0 w 5325805"/>
              <a:gd name="connsiteY0-56" fmla="*/ 0 h 5429563"/>
              <a:gd name="connsiteX1-57" fmla="*/ 668836 w 5325805"/>
              <a:gd name="connsiteY1-58" fmla="*/ 0 h 5429563"/>
              <a:gd name="connsiteX2-59" fmla="*/ 1942188 w 5325805"/>
              <a:gd name="connsiteY2-60" fmla="*/ 0 h 5429563"/>
              <a:gd name="connsiteX3-61" fmla="*/ 2611024 w 5325805"/>
              <a:gd name="connsiteY3-62" fmla="*/ 0 h 5429563"/>
              <a:gd name="connsiteX4-63" fmla="*/ 5325805 w 5325805"/>
              <a:gd name="connsiteY4-64" fmla="*/ 2714782 h 5429563"/>
              <a:gd name="connsiteX5-65" fmla="*/ 2611024 w 5325805"/>
              <a:gd name="connsiteY5-66" fmla="*/ 5429563 h 5429563"/>
              <a:gd name="connsiteX6-67" fmla="*/ 1942188 w 5325805"/>
              <a:gd name="connsiteY6-68" fmla="*/ 5429563 h 5429563"/>
              <a:gd name="connsiteX0-69" fmla="*/ 0 w 4656969"/>
              <a:gd name="connsiteY0-70" fmla="*/ 0 h 5429563"/>
              <a:gd name="connsiteX1-71" fmla="*/ 1273352 w 4656969"/>
              <a:gd name="connsiteY1-72" fmla="*/ 0 h 5429563"/>
              <a:gd name="connsiteX2-73" fmla="*/ 1942188 w 4656969"/>
              <a:gd name="connsiteY2-74" fmla="*/ 0 h 5429563"/>
              <a:gd name="connsiteX3-75" fmla="*/ 4656969 w 4656969"/>
              <a:gd name="connsiteY3-76" fmla="*/ 2714782 h 5429563"/>
              <a:gd name="connsiteX4-77" fmla="*/ 1942188 w 4656969"/>
              <a:gd name="connsiteY4-78" fmla="*/ 5429563 h 5429563"/>
              <a:gd name="connsiteX5-79" fmla="*/ 1273352 w 4656969"/>
              <a:gd name="connsiteY5-80" fmla="*/ 5429563 h 5429563"/>
              <a:gd name="connsiteX0-81" fmla="*/ 0 w 3383617"/>
              <a:gd name="connsiteY0-82" fmla="*/ 0 h 5429563"/>
              <a:gd name="connsiteX1-83" fmla="*/ 668836 w 3383617"/>
              <a:gd name="connsiteY1-84" fmla="*/ 0 h 5429563"/>
              <a:gd name="connsiteX2-85" fmla="*/ 3383617 w 3383617"/>
              <a:gd name="connsiteY2-86" fmla="*/ 2714782 h 5429563"/>
              <a:gd name="connsiteX3-87" fmla="*/ 668836 w 3383617"/>
              <a:gd name="connsiteY3-88" fmla="*/ 5429563 h 5429563"/>
              <a:gd name="connsiteX4-89" fmla="*/ 0 w 3383617"/>
              <a:gd name="connsiteY4-90" fmla="*/ 5429563 h 5429563"/>
              <a:gd name="connsiteX0-91" fmla="*/ 0 w 3383617"/>
              <a:gd name="connsiteY0-92" fmla="*/ 0 h 5429563"/>
              <a:gd name="connsiteX1-93" fmla="*/ 248198 w 3383617"/>
              <a:gd name="connsiteY1-94" fmla="*/ 41 h 5429563"/>
              <a:gd name="connsiteX2-95" fmla="*/ 668836 w 3383617"/>
              <a:gd name="connsiteY2-96" fmla="*/ 0 h 5429563"/>
              <a:gd name="connsiteX3-97" fmla="*/ 3383617 w 3383617"/>
              <a:gd name="connsiteY3-98" fmla="*/ 2714782 h 5429563"/>
              <a:gd name="connsiteX4-99" fmla="*/ 668836 w 3383617"/>
              <a:gd name="connsiteY4-100" fmla="*/ 5429563 h 5429563"/>
              <a:gd name="connsiteX5-101" fmla="*/ 0 w 3383617"/>
              <a:gd name="connsiteY5-102" fmla="*/ 5429563 h 5429563"/>
              <a:gd name="connsiteX0-103" fmla="*/ 248198 w 3383617"/>
              <a:gd name="connsiteY0-104" fmla="*/ 41 h 5429563"/>
              <a:gd name="connsiteX1-105" fmla="*/ 668836 w 3383617"/>
              <a:gd name="connsiteY1-106" fmla="*/ 0 h 5429563"/>
              <a:gd name="connsiteX2-107" fmla="*/ 3383617 w 3383617"/>
              <a:gd name="connsiteY2-108" fmla="*/ 2714782 h 5429563"/>
              <a:gd name="connsiteX3-109" fmla="*/ 668836 w 3383617"/>
              <a:gd name="connsiteY3-110" fmla="*/ 5429563 h 5429563"/>
              <a:gd name="connsiteX4-111" fmla="*/ 0 w 3383617"/>
              <a:gd name="connsiteY4-112" fmla="*/ 5429563 h 5429563"/>
              <a:gd name="connsiteX0-113" fmla="*/ 4110 w 3139529"/>
              <a:gd name="connsiteY0-114" fmla="*/ 41 h 5429563"/>
              <a:gd name="connsiteX1-115" fmla="*/ 424748 w 3139529"/>
              <a:gd name="connsiteY1-116" fmla="*/ 0 h 5429563"/>
              <a:gd name="connsiteX2-117" fmla="*/ 3139529 w 3139529"/>
              <a:gd name="connsiteY2-118" fmla="*/ 2714782 h 5429563"/>
              <a:gd name="connsiteX3-119" fmla="*/ 424748 w 3139529"/>
              <a:gd name="connsiteY3-120" fmla="*/ 5429563 h 5429563"/>
              <a:gd name="connsiteX4-121" fmla="*/ 0 w 3139529"/>
              <a:gd name="connsiteY4-122" fmla="*/ 5429563 h 54295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/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/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/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CC06386D-6B92-4CFE-AC40-580E968C4FA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D43EB1A5-A850-4961-A960-B6E728ED0EB6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2" y="206478"/>
            <a:ext cx="8169736" cy="1573162"/>
          </a:xfrm>
        </p:spPr>
        <p:txBody>
          <a:bodyPr>
            <a:normAutofit fontScale="90000"/>
          </a:bodyPr>
          <a:lstStyle/>
          <a:p>
            <a:r>
              <a:rPr lang="en-IN" sz="5400" dirty="0"/>
              <a:t>         </a:t>
            </a:r>
            <a:r>
              <a:rPr lang="en-IN" sz="67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ApexPlanet </a:t>
            </a:r>
            <a:br>
              <a:rPr lang="en-IN" sz="67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67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7394" y="2320411"/>
            <a:ext cx="8318090" cy="2890685"/>
          </a:xfrm>
        </p:spPr>
        <p:txBody>
          <a:bodyPr>
            <a:normAutofit/>
          </a:bodyPr>
          <a:lstStyle/>
          <a:p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Storytelling &amp; Statistical Validation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Chinni Snehitha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ApexPlanet Internship — Task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overall sales performance using customer, product, category, and city-level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major revenue and order drivers.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and monthly sales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statistical testing to validate an important business finding.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Question: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factors are driving sales performance, and what actions can help improve business growth?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ADE9C-4D92-84F3-EF4C-1A01560E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01DD1-702B-434E-1EA2-32560681E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41152" cy="177032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Total Orders                       Total Customers                    Total Products                    Total Categories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223512-A180-1343-1DC3-F2A722B92F54}"/>
              </a:ext>
            </a:extLst>
          </p:cNvPr>
          <p:cNvSpPr/>
          <p:nvPr/>
        </p:nvSpPr>
        <p:spPr>
          <a:xfrm>
            <a:off x="824926" y="2025439"/>
            <a:ext cx="2448232" cy="1189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1,000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3F9CDA-7AD8-5A2C-FE7F-C62487E478AA}"/>
              </a:ext>
            </a:extLst>
          </p:cNvPr>
          <p:cNvSpPr/>
          <p:nvPr/>
        </p:nvSpPr>
        <p:spPr>
          <a:xfrm>
            <a:off x="3523188" y="2025440"/>
            <a:ext cx="2448232" cy="1189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42C72F-D446-14C0-2072-2CD56415C5C9}"/>
              </a:ext>
            </a:extLst>
          </p:cNvPr>
          <p:cNvSpPr/>
          <p:nvPr/>
        </p:nvSpPr>
        <p:spPr>
          <a:xfrm>
            <a:off x="6293626" y="2025443"/>
            <a:ext cx="2448232" cy="1189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AE4E13-86B1-11B8-05F4-4D008C8BEB73}"/>
              </a:ext>
            </a:extLst>
          </p:cNvPr>
          <p:cNvSpPr/>
          <p:nvPr/>
        </p:nvSpPr>
        <p:spPr>
          <a:xfrm>
            <a:off x="9027976" y="2025442"/>
            <a:ext cx="2339098" cy="1189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6819CF-EBBA-9ED0-E75F-0FCB2182E494}"/>
              </a:ext>
            </a:extLst>
          </p:cNvPr>
          <p:cNvSpPr txBox="1"/>
          <p:nvPr/>
        </p:nvSpPr>
        <p:spPr>
          <a:xfrm>
            <a:off x="731520" y="3795760"/>
            <a:ext cx="1074115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Coverage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ID, Name, Age, Gender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City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Product, Category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Quantity, Unit Price, Total Sales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 Date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1,000 sales transactions covering customers, products, categories, cities, and sales values.</a:t>
            </a:r>
          </a:p>
        </p:txBody>
      </p:sp>
    </p:spTree>
    <p:extLst>
      <p:ext uri="{BB962C8B-B14F-4D97-AF65-F5344CB8AC3E}">
        <p14:creationId xmlns:p14="http://schemas.microsoft.com/office/powerpoint/2010/main" val="393104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3E61-7387-D835-3AC8-4E9E49A95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Overall Sales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F40B1-F3ED-6360-DAB1-7FABFFC09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614906" cy="1615463"/>
          </a:xfrm>
        </p:spPr>
        <p:txBody>
          <a:bodyPr/>
          <a:lstStyle/>
          <a:p>
            <a:r>
              <a:rPr lang="en-IN" dirty="0"/>
              <a:t>     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                   Total Orders                 Total Customers         Average Order Value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98F43F-C83F-5B49-35BD-59C22689E1DF}"/>
              </a:ext>
            </a:extLst>
          </p:cNvPr>
          <p:cNvSpPr/>
          <p:nvPr/>
        </p:nvSpPr>
        <p:spPr>
          <a:xfrm>
            <a:off x="845574" y="1986114"/>
            <a:ext cx="2349910" cy="10618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₹13,93,99,439.65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93560F-A117-3CCF-D1F5-2D81664E0F8D}"/>
              </a:ext>
            </a:extLst>
          </p:cNvPr>
          <p:cNvSpPr/>
          <p:nvPr/>
        </p:nvSpPr>
        <p:spPr>
          <a:xfrm>
            <a:off x="3522406" y="1986112"/>
            <a:ext cx="2349910" cy="10618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FB3DFF-AD41-191F-F139-C378A68C780E}"/>
              </a:ext>
            </a:extLst>
          </p:cNvPr>
          <p:cNvSpPr/>
          <p:nvPr/>
        </p:nvSpPr>
        <p:spPr>
          <a:xfrm>
            <a:off x="6096000" y="2005773"/>
            <a:ext cx="2526890" cy="1061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06BE4E-F10F-C742-56D2-AEC23FA07229}"/>
              </a:ext>
            </a:extLst>
          </p:cNvPr>
          <p:cNvSpPr/>
          <p:nvPr/>
        </p:nvSpPr>
        <p:spPr>
          <a:xfrm>
            <a:off x="8809703" y="1986114"/>
            <a:ext cx="2349910" cy="1061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₹1,39,399.44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1A9601-1F22-5A8F-B594-59178C58CE19}"/>
              </a:ext>
            </a:extLst>
          </p:cNvPr>
          <p:cNvSpPr txBox="1"/>
          <p:nvPr/>
        </p:nvSpPr>
        <p:spPr>
          <a:xfrm>
            <a:off x="845574" y="3375430"/>
            <a:ext cx="103140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Findings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-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generated the highest category revenue.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-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the highest-revenue product.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Patna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recorded the highest city-wise sales.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-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had the highest number of orders.</a:t>
            </a:r>
          </a:p>
        </p:txBody>
      </p:sp>
    </p:spTree>
    <p:extLst>
      <p:ext uri="{BB962C8B-B14F-4D97-AF65-F5344CB8AC3E}">
        <p14:creationId xmlns:p14="http://schemas.microsoft.com/office/powerpoint/2010/main" val="181776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72EBA-292E-4351-8118-ECC12B282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Trends &amp; Business Insights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3FBFB6-5F72-7065-F9D3-6F99AC0478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1520" y="1687212"/>
            <a:ext cx="3400900" cy="30421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90AFBB-B9F5-382B-FCFD-65F2269062EF}"/>
              </a:ext>
            </a:extLst>
          </p:cNvPr>
          <p:cNvSpPr txBox="1"/>
          <p:nvPr/>
        </p:nvSpPr>
        <p:spPr>
          <a:xfrm>
            <a:off x="4542502" y="1723298"/>
            <a:ext cx="66564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Monthly Revenue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fluctuates across the months.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highest monthly revenue occurs around March and June.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Category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is the strongest revenue-generating category.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 has the lowest category revenue among the five categories.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Product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has the highest product revenue.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Shoes has the lowest product revenue.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481592-CA24-8E0C-19E4-F266B146DD9C}"/>
              </a:ext>
            </a:extLst>
          </p:cNvPr>
          <p:cNvSpPr txBox="1"/>
          <p:nvPr/>
        </p:nvSpPr>
        <p:spPr>
          <a:xfrm>
            <a:off x="865239" y="5515897"/>
            <a:ext cx="10087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inventory, promotions, and marketing efforts on high-performing products and categories while investigating opportunities to improve lower-performing segments.</a:t>
            </a:r>
          </a:p>
        </p:txBody>
      </p:sp>
    </p:spTree>
    <p:extLst>
      <p:ext uri="{BB962C8B-B14F-4D97-AF65-F5344CB8AC3E}">
        <p14:creationId xmlns:p14="http://schemas.microsoft.com/office/powerpoint/2010/main" val="2801450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D0DB-4E20-8C19-FF23-8A9F319B3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Customer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244D4A-E608-1C1C-AA39-D1E93FC27F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2477" y="1628830"/>
            <a:ext cx="4546104" cy="35036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A84B32-9AFE-4EAE-279B-626CB2833747}"/>
              </a:ext>
            </a:extLst>
          </p:cNvPr>
          <p:cNvSpPr txBox="1"/>
          <p:nvPr/>
        </p:nvSpPr>
        <p:spPr>
          <a:xfrm>
            <a:off x="5447070" y="1628830"/>
            <a:ext cx="6361471" cy="4091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Insights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Distribution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customers: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511 (51%)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customers: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489 (49%)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customer base is relatively balanced by gender.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Sales by Gender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average sales: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₹1,41,807.34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average sales: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₹1,36,883.21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average sales are slightly higher than female average sales.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Validation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T-statistic: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0.6826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0.4950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level: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0.05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95% Confidence Interval: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−₹9,231.58 to ₹19,079.85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6F85BD-80AE-92AB-4480-7E8523271D4D}"/>
              </a:ext>
            </a:extLst>
          </p:cNvPr>
          <p:cNvSpPr txBox="1"/>
          <p:nvPr/>
        </p:nvSpPr>
        <p:spPr>
          <a:xfrm>
            <a:off x="1022555" y="5666606"/>
            <a:ext cx="10618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p-value (0.4950) is greater than 0.05, there is no statistically significant difference between male and female average sales.</a:t>
            </a:r>
          </a:p>
        </p:txBody>
      </p:sp>
    </p:spTree>
    <p:extLst>
      <p:ext uri="{BB962C8B-B14F-4D97-AF65-F5344CB8AC3E}">
        <p14:creationId xmlns:p14="http://schemas.microsoft.com/office/powerpoint/2010/main" val="2405183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E3801-0FDB-55CE-5DAF-8B7A8E56D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Hypothesis Testing — Business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B67D8-8500-5E49-C0E7-E54121703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Interpretation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should not be treated as a strong standalone factor for sales targeting because the observed difference in average sales is not statistically significant.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D21CB9-A0C4-E180-738A-751C8B017A7E}"/>
              </a:ext>
            </a:extLst>
          </p:cNvPr>
          <p:cNvSpPr txBox="1"/>
          <p:nvPr/>
        </p:nvSpPr>
        <p:spPr>
          <a:xfrm>
            <a:off x="731520" y="1750142"/>
            <a:ext cx="5364479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 (H₀)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significant difference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average sales between male and female customers.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Hypothesis (H₁)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significant difference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average sales between male and female customers.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F6C8AA-F84B-26CE-4145-5FFFBBB81231}"/>
              </a:ext>
            </a:extLst>
          </p:cNvPr>
          <p:cNvSpPr txBox="1"/>
          <p:nvPr/>
        </p:nvSpPr>
        <p:spPr>
          <a:xfrm>
            <a:off x="6095999" y="1750142"/>
            <a:ext cx="46703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Result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Used: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Independent Two-Sample T-Test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Level: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0.05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0.4950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 to reject H₀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statistically significant</a:t>
            </a:r>
          </a:p>
        </p:txBody>
      </p:sp>
    </p:spTree>
    <p:extLst>
      <p:ext uri="{BB962C8B-B14F-4D97-AF65-F5344CB8AC3E}">
        <p14:creationId xmlns:p14="http://schemas.microsoft.com/office/powerpoint/2010/main" val="154236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575B-1A16-8438-7A74-83EE833F8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Key 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A9A7F-4352-47A0-9B8D-7B73CDDA5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Strengthen Electronics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is the highest-revenue category and should receive strong inventory and promotional support.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Promote High-Performing Products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is the leading product by revenue. Maintain adequate inventory and consider targeted promotions.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Focus on High-Performing Cities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Patna recorded the highest city-wise sales. Analyse successful strategies in high-performing cities and replicate them where appropriate.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Use Multi-Factor Customer Segmentation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alone is not a statistically significant differentiator in average sales. Customer targeting should therefore consider other factors such as product preference, city, purchase behaviour, and order value.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Business Impact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inventory planning, targeted marketing, stronger regional strategies, and more data-driven customer segmentation.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2763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A4C8D-DF14-34CE-4D71-DC9652C4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4" y="385425"/>
            <a:ext cx="10741152" cy="113225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Conclusion &amp; Call to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BFDEC-0FBE-F05B-6A13-CD2703E77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lvl="0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reached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₹13.94 crore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1,000 orders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was the strongest revenue-generating category. </a:t>
            </a:r>
          </a:p>
          <a:p>
            <a:pPr lvl="0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was the leading product by revenue. </a:t>
            </a:r>
          </a:p>
          <a:p>
            <a:pPr lvl="0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Patna recorded the highest city-wise sales. </a:t>
            </a:r>
          </a:p>
          <a:p>
            <a:pPr lvl="0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and female customers showed similar average sales, with no statistically significant difference. </a:t>
            </a:r>
          </a:p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Action Plan</a:t>
            </a:r>
          </a:p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Prioritize high-performing products and categories.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Strengthen strategies in high-performing cities.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lower-performing products and categories through targeted promotions.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multiple customer attributes rather than gender alone for segmentation.</a:t>
            </a:r>
          </a:p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Takeaway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decisions should focus on revenue drivers, customer behaviour, product performance, and regional opportunities rather than relying on a single customer characteristic.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1849230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764</Words>
  <Application>Microsoft Office PowerPoint</Application>
  <PresentationFormat>Widescreen</PresentationFormat>
  <Paragraphs>107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Felix Titling</vt:lpstr>
      <vt:lpstr>Goudy Old Style</vt:lpstr>
      <vt:lpstr>Times New Roman</vt:lpstr>
      <vt:lpstr>Archway</vt:lpstr>
      <vt:lpstr>         ApexPlanet        Sales Analysis</vt:lpstr>
      <vt:lpstr>        Business Objective</vt:lpstr>
      <vt:lpstr>         Dataset Overview</vt:lpstr>
      <vt:lpstr>  Overall Sales Performance</vt:lpstr>
      <vt:lpstr>Sales Trends &amp; Business Insights</vt:lpstr>
      <vt:lpstr>           Customer Analysis</vt:lpstr>
      <vt:lpstr>   Hypothesis Testing — Business Conclusion</vt:lpstr>
      <vt:lpstr>  Key Business Recommendations</vt:lpstr>
      <vt:lpstr>   Conclusion &amp; Call to Action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snehitha chinni</dc:creator>
  <cp:lastModifiedBy>snehitha chinni</cp:lastModifiedBy>
  <cp:revision>4</cp:revision>
  <dcterms:created xsi:type="dcterms:W3CDTF">2026-08-13T15:55:00Z</dcterms:created>
  <dcterms:modified xsi:type="dcterms:W3CDTF">2026-08-16T11:56:26Z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B4117F9E17914E3588A77F8F2C23AC1C_12</vt:lpwstr>
  </property>
  <property fmtid="{D5CDD505-2E9C-101B-9397-08002B2CF9AE}" pid="3" name="KSOProductBuildVer">
    <vt:lpwstr>1033-12.1.0.28032</vt:lpwstr>
  </property>
</Properties>
</file>